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Model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Subscription Cancellations 14 Days Before Renewal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280160" cy="411480"/>
          </a:xfrm>
          <a:prstGeom prst="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840480"/>
            <a:ext cx="1371600" cy="1371600"/>
          </a:xfrm>
          <a:prstGeom prst="ellipse">
            <a:avLst/>
          </a:prstGeom>
          <a:solidFill>
            <a:srgbClr val="32E0C4">
              <a:alpha val="30000"/>
            </a:srgbClr>
          </a:solidFill>
          <a:ln w="12700">
            <a:solidFill>
              <a:srgbClr val="32E0C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Retention Intelligence · XGBoost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9377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subscription business faces the same challenge: </a:t>
            </a:r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customers who are about to cancel before it is too late to act.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 learning model that predicts — with 14 days' notice — whether a customer will renew or cancel their subscription.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sales and retention team enough lead time to reach out proactively — offering discounts, resolving complaints, or addressing concerns — before the customer makes a final decision.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Window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57276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– 45 Days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Renewal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52160" y="2834640"/>
            <a:ext cx="301752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834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Window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2834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3520440"/>
            <a:ext cx="3017520" cy="594360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520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3520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14–45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4206240"/>
            <a:ext cx="301752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4206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outside the 14–45 day window are excluded — ensuring the model focuses on the most relevant pre-renewal signals only.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were combined to build a complete picture of each customer: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83464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1536192"/>
            <a:ext cx="502920" cy="25603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36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122,082 rows × 59 cols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14600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 information: renewal dates, pricing, tenure, membership band, and subscription status.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834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087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Calls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2120" y="1536192"/>
            <a:ext cx="502920" cy="25603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536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55848" y="21762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157,722 rows × 40 cols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514600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Outbound/inbound calls at renewal time: agent pitches, customer reactions, competitor mentions, churn signals.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508760"/>
            <a:ext cx="2834640" cy="548640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5087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Calls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1536192"/>
            <a:ext cx="502920" cy="25603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1536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21762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32,882 rows × 33 cols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514600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interactions: sentiment scores, contractor complaints, business struggles, issue resolution.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are linked using Co_Ref (unique company reference) and merged using a temporal renewal window.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had its own quality issues — fixed across 3 dedicated cleaning notebooks: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8346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Calls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call direction values (Outbound → OUT_BOUND)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Call_Date from text to datetime64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[Yes/No] placeholders with 'Unknown'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duplicates: 186,534 → 157,722 rows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33 object cols to category dtype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834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96596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columns and rows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 date columns to datetime64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'%' from Discount_Amount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entirely empty Last_Years_Date_Paid column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nulls: 0 for financials, 'Unknown' for categoricals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Calls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61518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Contact_ID from float to int64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Call_Date from text to datetime64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Yes/No placeholders with 'Unknown'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non-numeric sentiment score entries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26 object cols to category dtype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A Core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3898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are a small minority. A naive model would just predict 'Won't Churn' always — so class weighting was applied during training.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548640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777240"/>
                <a:gridCol w="502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101,226 (88.9%)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12,668 (11.1%)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Calls*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3,814 (79.2%)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 (20.8%)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Calls*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3,818 (92.7%)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(7.3%)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005840"/>
            <a:ext cx="2834640" cy="3566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078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Billing Insights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0" y="1481328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tenure → higher churn (4.4 vs 7.2 yrs avg)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A (lowest) had the highest churn rate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= significantly less likely to churn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 increases → higher churn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Discount_Amount: strongest correlation (0.31) — discounts signal at-risk accounts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374904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8221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Churn Signals Found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1554480" cy="5943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169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to Cancel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40280" y="4160520"/>
            <a:ext cx="1554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40280" y="4169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24028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Suggest Leave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023360" y="4160520"/>
            <a:ext cx="155448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23360" y="4169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02336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Mention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hypothesis tests confirmed which patterns are real — not coincidental. Threshold: p &lt; 0.05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834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(100%)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(Chi² = 68,301)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8346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Calls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938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(80%)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063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to Cancel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(Cramér's V = 0.324)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Calls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1938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55080" y="2542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7614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(56%)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063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Suggested Leave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(Cramér's V = 0.367)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Takeaway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Cramér's V score above 0.3 = strong effect. </a:t>
            </a:r>
            <a:pPr indent="0" marL="0">
              <a:buNone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'Desire to Cancel' (V=0.324) and 'Contractor Suggested Leave' (V=0.367) both cleared this threshold — confirming them as reliable, business-ready churn signals. The 22–28 day window before renewal has the lowest churn rate (~16%), making it the optimal timing for retention outreach.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MERGING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Joining Logic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linked via Co_Ref (unique company ID)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assigned to its renewal cycle by verifying: call date falls between previous and current renewal date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calls 14–45 days before renewal are kept (prediction window)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from joins are removed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5 (latest call per window, full columns) selected as the modelling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Outputs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17320"/>
          <a:ext cx="43434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868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br_merged.csv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Billings + Renewal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bcc_merged.csv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Billings + CC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full_raw_billing_calls.csv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joined (widest)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Heavily exploded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final_billing_calls.csv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counts per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final_latest_calls_fullcols.csv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call + full cols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4114800"/>
            <a:ext cx="4343400" cy="54864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114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Merge 5 was selected as the final modelling base — it preserves one row per renewal event while adding the richest call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Was Removed &amp; 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CC call columns (&gt;95% null)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sparse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391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Membership_Renewal_Decision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0391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encodes the outcome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569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Proforma_Audit/Membership_Status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5694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Post-renewal state = leakage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099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Total_Amount, Last_Total_Net_Paid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309981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with Total_Net_Paid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630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Co_Ref, Call_ID, Contact_ID, 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36301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identifiers, not predictive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4251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05840"/>
            <a:ext cx="4251960" cy="4114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Features Created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481328"/>
            <a:ext cx="73152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cancel_flag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719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cancellation intent (1.4% rate)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73152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competitor_mentioned_flag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23408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 = churn signal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724912"/>
            <a:ext cx="73152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724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stage_high_risk_flag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2962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high churn stages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346704"/>
            <a:ext cx="73152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346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pct_inc_total_net_paid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584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is a major driver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968496"/>
            <a:ext cx="73152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Customer_Response_Risk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attitude encoding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for modelling: 113,894 rows · 69 features (34 numeric + 35 one-hot encoded) · 11.12% churn rate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XGBoost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(Gradient Boosting): builds many small decision trees in sequence, each learning from the previous one's mistakes. Ideal for class imbalance, mixed types, and noisy data.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502920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56032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trees → better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trees reduce 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speed &amp;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data per tree → reduces 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features per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Counteracts churn class imbalance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50876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920240"/>
            <a:ext cx="21945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— 91,115 rows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377440"/>
            <a:ext cx="14630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— 22,779 rows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2834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· Random seed = 42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108960"/>
            <a:ext cx="32918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172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349300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(Optimal):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= 0.8475 — balanced precision &amp; recall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(Aggressive): </a:t>
            </a:r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99%, Precision = 38% — catch every churner, accept more false alarms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370832"/>
            <a:ext cx="5029200" cy="6400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37083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allows the business to control the trade-off between catching more churners (high recall) vs. fewer false alarms (high precision).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93392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discrimination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93392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972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22402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precision vs recall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93392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0.05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22402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almost every churner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1993392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0972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224028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optimal threshold 0.821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(threshold = 0.821)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411480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E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19,918 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 FP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 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E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2,135 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2A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2788920"/>
            <a:ext cx="4206240" cy="2194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2852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00600" y="32004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assigns each feature a contribution score for every individual prediction — telling the retention team exactly WHY a customer was flagged as at-risk.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3840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shap_feature_importance.csv — global rankings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shap_row_level.csv — per-customer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shap_top_features.csv — top 3 drivers per customer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pick a random churner and a random non-churner, the model will rank the churner higher 98.66% of the time.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161288"/>
            <a:ext cx="411480" cy="4114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1612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01_basic_cleaning/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types, dates, nulls, duplicates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560320" cy="365760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clean CSVs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161288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11612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618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02_eda/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segments, correlations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377440"/>
            <a:ext cx="2560320" cy="36576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EDA CSVs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1928" y="1161288"/>
            <a:ext cx="411480" cy="411480"/>
          </a:xfrm>
          <a:prstGeom prst="ellipse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11612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618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03_hypothesis_test/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significant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solidFill>
            <a:srgbClr val="14A098">
              <a:alpha val="12000"/>
            </a:srgbClr>
          </a:solidFill>
          <a:ln w="12700">
            <a:solidFill>
              <a:srgbClr val="14A098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Feature selection lists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0175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" y="3127248"/>
            <a:ext cx="411480" cy="4114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1272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Merging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584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04_merge_dataset/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3 datasets with temporal logic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2560320" cy="365760"/>
          </a:xfrm>
          <a:prstGeom prst="rect">
            <a:avLst/>
          </a:prstGeom>
          <a:solidFill>
            <a:srgbClr val="1A2B4A">
              <a:alpha val="12000"/>
            </a:srgbClr>
          </a:solidFill>
          <a:ln w="12700">
            <a:solidFill>
              <a:srgbClr val="1A2B4A">
                <a:alpha val="1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merged datasets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0175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10128" y="3127248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94760" y="31272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37560" y="3584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05_feature_engg/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375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encode, remove leakage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4343400"/>
            <a:ext cx="2560320" cy="36576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model_data.csv (69 features)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0175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81928" y="3127248"/>
            <a:ext cx="411480" cy="411480"/>
          </a:xfrm>
          <a:prstGeom prst="ellipse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66560" y="31272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09360" y="3584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06_model/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3840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XGBoost, tune, evaluate, SHAP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09360" y="4343400"/>
            <a:ext cx="2560320" cy="365760"/>
          </a:xfrm>
          <a:prstGeom prst="rect">
            <a:avLst/>
          </a:prstGeom>
          <a:solidFill>
            <a:srgbClr val="14A098">
              <a:alpha val="12000"/>
            </a:srgbClr>
          </a:solidFill>
          <a:ln w="12700">
            <a:solidFill>
              <a:srgbClr val="14A098">
                <a:alpha val="1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Predictions + 8 Power BI exports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outputs are exported to a shared folder for Power BI consumption. The retention team can see not just WHO is at risk — but WHY.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bi_prediction.csv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rows with actual outcome, predicted outcome, and churn probability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08760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confusion_matrix.csv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summary of correct vs incorrect predictions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58568"/>
            <a:ext cx="64008" cy="658368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roc_curve.csv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578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plotting the ROC curve in Power BI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25856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58568"/>
            <a:ext cx="64008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304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auc_score.csv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578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ROC AUC metric value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08376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54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ranked by XGBoost gain 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0837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08376"/>
            <a:ext cx="64008" cy="658368"/>
          </a:xfrm>
          <a:prstGeom prst="rect">
            <a:avLst/>
          </a:prstGeom>
          <a:solidFill>
            <a:srgbClr val="14A098"/>
          </a:solidFill>
          <a:ln w="12700">
            <a:solidFill>
              <a:srgbClr val="14A0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54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shap_feature_importance.csv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 feature rankings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581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58184"/>
            <a:ext cx="64008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039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shap_row_level.csv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40782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SHAP values for drill-through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7581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758184"/>
            <a:ext cx="6400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8039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shap_top_features.csv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73752" y="40782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influencing features per customer prediction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outputs enable explainability in Power BI — retention agents know exactly which signals drove each customer's risk score.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built a customer churn prediction system that identifies at-risk subscribers 14 days before their renewal 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2E0C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churn discrimination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A09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17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precision–recall balance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almost every churner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1371600"/>
            <a:ext cx="19659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173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optimal threshold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trained on 113,894 records with 11.12% churn rate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sources merged using precise temporal window logic (14–45 days before renewal)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engineered features including cancel_flag and competitor_mentioned_flag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— retention agents know exactly WHY each customer was flagged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Power BI exports — full dashboard-ready model output for the business team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4773168"/>
            <a:ext cx="27432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· Customer Churn Prediction Model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Model</dc:title>
  <dc:subject>PptxGenJS Presentation</dc:subject>
  <dc:creator>PptxGenJS</dc:creator>
  <cp:lastModifiedBy>PptxGenJS</cp:lastModifiedBy>
  <cp:revision>1</cp:revision>
  <dcterms:created xsi:type="dcterms:W3CDTF">2026-04-14T19:53:26Z</dcterms:created>
  <dcterms:modified xsi:type="dcterms:W3CDTF">2026-04-14T19:53:26Z</dcterms:modified>
</cp:coreProperties>
</file>